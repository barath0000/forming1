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rawings/drawing1.xml" ContentType="application/vnd.openxmlformats-officedocument.drawingml.chartshapes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rawings/drawing2.xml" ContentType="application/vnd.openxmlformats-officedocument.drawingml.chartshapes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1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tudent\Desktop\barath_deep_drawing\5kn%20wrinkle%20graph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tudent\Desktop\barath_deep_drawing\5kn%20wrinkle%20graph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tudent\Desktop\barath_deep_drawing\5kn%20wrinkle%20graph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tudent\Desktop\barath_deep_drawing\5kn%20wrinkle%20graph.xlsx" TargetMode="Externa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chartUserShapes" Target="../drawings/drawing1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tudent\Desktop\barath_deep_drawing\5kn%20wrinkle%20graph.xlsx" TargetMode="Externa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chartUserShapes" Target="../drawings/drawing2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tudent\Desktop\barath_deep_drawing\5kn%20wrinkle%20graph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VARIATION OF SPRING</a:t>
            </a:r>
            <a:r>
              <a:rPr lang="en-IN" baseline="0"/>
              <a:t> BACK</a:t>
            </a:r>
            <a:endParaRPr lang="en-IN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4698244879014539E-2"/>
          <c:y val="0.15460055096418732"/>
          <c:w val="0.90089912469861455"/>
          <c:h val="0.77855549048104522"/>
        </c:manualLayout>
      </c:layout>
      <c:scatterChart>
        <c:scatterStyle val="smoothMarker"/>
        <c:varyColors val="0"/>
        <c:ser>
          <c:idx val="0"/>
          <c:order val="0"/>
          <c:tx>
            <c:strRef>
              <c:f>Sheet1!$E$36</c:f>
              <c:strCache>
                <c:ptCount val="1"/>
                <c:pt idx="0">
                  <c:v>SB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yVal>
            <c:numRef>
              <c:f>Sheet1!$E$37:$E$40</c:f>
              <c:numCache>
                <c:formatCode>General</c:formatCode>
                <c:ptCount val="4"/>
                <c:pt idx="0">
                  <c:v>0.46000000000000085</c:v>
                </c:pt>
                <c:pt idx="1">
                  <c:v>0.32000000000000028</c:v>
                </c:pt>
                <c:pt idx="2">
                  <c:v>0.30000000000000071</c:v>
                </c:pt>
                <c:pt idx="3">
                  <c:v>0.33000000000000007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1695-4EFA-B564-5BB282BED3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51655264"/>
        <c:axId val="1151667328"/>
      </c:scatterChart>
      <c:valAx>
        <c:axId val="115165526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1667328"/>
        <c:crosses val="autoZero"/>
        <c:crossBetween val="midCat"/>
      </c:valAx>
      <c:valAx>
        <c:axId val="11516673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165526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VARIATION OF WRINKLE DEFECT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Sheet1!$P$35</c:f>
              <c:strCache>
                <c:ptCount val="1"/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yVal>
            <c:numRef>
              <c:f>Sheet1!$P$36:$P$45</c:f>
              <c:numCache>
                <c:formatCode>General</c:formatCode>
                <c:ptCount val="10"/>
                <c:pt idx="0">
                  <c:v>0.10499999999998977</c:v>
                </c:pt>
                <c:pt idx="1">
                  <c:v>0.10199999999998965</c:v>
                </c:pt>
                <c:pt idx="2">
                  <c:v>9.0999999999993975E-2</c:v>
                </c:pt>
                <c:pt idx="3">
                  <c:v>9.1999999999998749E-2</c:v>
                </c:pt>
                <c:pt idx="4">
                  <c:v>7.6999999999998181E-2</c:v>
                </c:pt>
                <c:pt idx="5">
                  <c:v>6.1999999999997613E-2</c:v>
                </c:pt>
                <c:pt idx="6">
                  <c:v>3.7999999999996703E-2</c:v>
                </c:pt>
                <c:pt idx="7">
                  <c:v>2.4000000000000909E-2</c:v>
                </c:pt>
                <c:pt idx="8">
                  <c:v>1.2000000000000455E-2</c:v>
                </c:pt>
                <c:pt idx="9">
                  <c:v>9.9999999999056399E-4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7DDA-498F-84AE-55D23947B5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51666912"/>
        <c:axId val="1151652768"/>
      </c:scatterChart>
      <c:valAx>
        <c:axId val="11516669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 smtClean="0"/>
                  <a:t>STEPS</a:t>
                </a:r>
                <a:endParaRPr lang="en-IN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1652768"/>
        <c:crosses val="autoZero"/>
        <c:crossBetween val="midCat"/>
      </c:valAx>
      <c:valAx>
        <c:axId val="1151652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 smtClean="0"/>
                  <a:t>DEFORMATION</a:t>
                </a:r>
                <a:r>
                  <a:rPr lang="en-IN" baseline="0" dirty="0" smtClean="0"/>
                  <a:t> (mm)</a:t>
                </a:r>
                <a:endParaRPr lang="en-IN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166691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 smtClean="0"/>
              <a:t>VARIATION</a:t>
            </a:r>
            <a:r>
              <a:rPr lang="en-IN" baseline="0" dirty="0" smtClean="0"/>
              <a:t> OF WRINKLE</a:t>
            </a:r>
            <a:endParaRPr lang="en-IN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Sheet1!$R$69</c:f>
              <c:strCache>
                <c:ptCount val="1"/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yVal>
            <c:numRef>
              <c:f>Sheet1!$R$70:$R$79</c:f>
              <c:numCache>
                <c:formatCode>General</c:formatCode>
                <c:ptCount val="10"/>
                <c:pt idx="0">
                  <c:v>8.99999999999892E-2</c:v>
                </c:pt>
                <c:pt idx="1">
                  <c:v>8.5999999999998522E-2</c:v>
                </c:pt>
                <c:pt idx="2">
                  <c:v>8.2999999999998408E-2</c:v>
                </c:pt>
                <c:pt idx="3">
                  <c:v>7.4999999999988631E-2</c:v>
                </c:pt>
                <c:pt idx="4">
                  <c:v>6.2999999999988177E-2</c:v>
                </c:pt>
                <c:pt idx="5">
                  <c:v>4.399999999999693E-2</c:v>
                </c:pt>
                <c:pt idx="6">
                  <c:v>3.0000000000001137E-2</c:v>
                </c:pt>
                <c:pt idx="7">
                  <c:v>1.8000000000000682E-2</c:v>
                </c:pt>
                <c:pt idx="8">
                  <c:v>7.9999999999955662E-3</c:v>
                </c:pt>
                <c:pt idx="9">
                  <c:v>-1.0000000000047748E-3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55B2-407C-AAB6-F1AA3C0001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53108992"/>
        <c:axId val="1153109408"/>
      </c:scatterChart>
      <c:valAx>
        <c:axId val="11531089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3109408"/>
        <c:crosses val="autoZero"/>
        <c:crossBetween val="midCat"/>
      </c:valAx>
      <c:valAx>
        <c:axId val="1153109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310899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800" b="0" i="0" baseline="0">
                <a:effectLst/>
              </a:rPr>
              <a:t>VARIATION OF WRINKLE DEFECT</a:t>
            </a:r>
            <a:endParaRPr lang="en-IN">
              <a:effectLst/>
            </a:endParaRPr>
          </a:p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ysClr val="windowText" lastClr="000000">
                    <a:lumMod val="65000"/>
                    <a:lumOff val="35000"/>
                  </a:sysClr>
                </a:solidFill>
              </a:defRPr>
            </a:pPr>
            <a:endParaRPr lang="en-IN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Sheet1!$F$70</c:f>
              <c:strCache>
                <c:ptCount val="1"/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yVal>
            <c:numRef>
              <c:f>Sheet1!$F$71:$F$80</c:f>
              <c:numCache>
                <c:formatCode>General</c:formatCode>
                <c:ptCount val="10"/>
                <c:pt idx="0">
                  <c:v>0.10599999999999454</c:v>
                </c:pt>
                <c:pt idx="1">
                  <c:v>0.10099999999999909</c:v>
                </c:pt>
                <c:pt idx="2">
                  <c:v>9.3999999999994088E-2</c:v>
                </c:pt>
                <c:pt idx="3">
                  <c:v>8.8999999999998636E-2</c:v>
                </c:pt>
                <c:pt idx="4">
                  <c:v>7.6999999999998181E-2</c:v>
                </c:pt>
                <c:pt idx="5">
                  <c:v>6.1999999999997613E-2</c:v>
                </c:pt>
                <c:pt idx="6">
                  <c:v>3.9000000000001478E-2</c:v>
                </c:pt>
                <c:pt idx="7">
                  <c:v>2.4000000000000909E-2</c:v>
                </c:pt>
                <c:pt idx="8">
                  <c:v>1.2000000000000455E-2</c:v>
                </c:pt>
                <c:pt idx="9">
                  <c:v>9.9999999999056399E-4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90F-478F-A44A-9891A1B1EA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51665664"/>
        <c:axId val="1151654016"/>
      </c:scatterChart>
      <c:valAx>
        <c:axId val="115166566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1654016"/>
        <c:crosses val="autoZero"/>
        <c:crossBetween val="midCat"/>
      </c:valAx>
      <c:valAx>
        <c:axId val="115165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166566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Sheet1!$G$115</c:f>
              <c:strCache>
                <c:ptCount val="1"/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yVal>
            <c:numRef>
              <c:f>Sheet1!$G$116:$G$125</c:f>
              <c:numCache>
                <c:formatCode>General</c:formatCode>
                <c:ptCount val="10"/>
                <c:pt idx="0">
                  <c:v>9.7999999999998977E-2</c:v>
                </c:pt>
                <c:pt idx="1">
                  <c:v>9.4999999999998863E-2</c:v>
                </c:pt>
                <c:pt idx="2">
                  <c:v>8.4999999999993747E-2</c:v>
                </c:pt>
                <c:pt idx="3">
                  <c:v>8.2999999999998408E-2</c:v>
                </c:pt>
                <c:pt idx="4">
                  <c:v>6.599999999998829E-2</c:v>
                </c:pt>
                <c:pt idx="5">
                  <c:v>5.3999999999987836E-2</c:v>
                </c:pt>
                <c:pt idx="6">
                  <c:v>3.4999999999996589E-2</c:v>
                </c:pt>
                <c:pt idx="7">
                  <c:v>1.9999999999996021E-2</c:v>
                </c:pt>
                <c:pt idx="8">
                  <c:v>9.0000000000003411E-3</c:v>
                </c:pt>
                <c:pt idx="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932B-4AD3-A9EE-D2C55E1B2F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53108992"/>
        <c:axId val="1153105664"/>
      </c:scatterChart>
      <c:valAx>
        <c:axId val="11531089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3105664"/>
        <c:crosses val="autoZero"/>
        <c:crossBetween val="midCat"/>
      </c:valAx>
      <c:valAx>
        <c:axId val="1153105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310899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Sheet1!$G$115</c:f>
              <c:strCache>
                <c:ptCount val="1"/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yVal>
            <c:numRef>
              <c:f>Sheet1!$G$116:$G$125</c:f>
              <c:numCache>
                <c:formatCode>General</c:formatCode>
                <c:ptCount val="10"/>
                <c:pt idx="0">
                  <c:v>9.7999999999998977E-2</c:v>
                </c:pt>
                <c:pt idx="1">
                  <c:v>9.4999999999998863E-2</c:v>
                </c:pt>
                <c:pt idx="2">
                  <c:v>8.4999999999993747E-2</c:v>
                </c:pt>
                <c:pt idx="3">
                  <c:v>8.2999999999998408E-2</c:v>
                </c:pt>
                <c:pt idx="4">
                  <c:v>6.599999999998829E-2</c:v>
                </c:pt>
                <c:pt idx="5">
                  <c:v>5.3999999999987836E-2</c:v>
                </c:pt>
                <c:pt idx="6">
                  <c:v>3.4999999999996589E-2</c:v>
                </c:pt>
                <c:pt idx="7">
                  <c:v>1.9999999999996021E-2</c:v>
                </c:pt>
                <c:pt idx="8">
                  <c:v>9.0000000000003411E-3</c:v>
                </c:pt>
                <c:pt idx="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5D84-4C86-BD4F-3214BB773F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53108992"/>
        <c:axId val="1153105664"/>
      </c:scatterChart>
      <c:valAx>
        <c:axId val="11531089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3105664"/>
        <c:crosses val="autoZero"/>
        <c:crossBetween val="midCat"/>
      </c:valAx>
      <c:valAx>
        <c:axId val="1153105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310899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FORCE</a:t>
            </a:r>
            <a:r>
              <a:rPr lang="en-IN" baseline="0"/>
              <a:t> VS DISPLACEMENT</a:t>
            </a:r>
            <a:endParaRPr lang="en-IN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Sheet1!$AI$6:$AI$339</c:f>
              <c:numCache>
                <c:formatCode>General</c:formatCode>
                <c:ptCount val="33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9.0000000000003411E-3</c:v>
                </c:pt>
                <c:pt idx="170">
                  <c:v>1.9000000000005457E-2</c:v>
                </c:pt>
                <c:pt idx="171">
                  <c:v>3.3000000000001251E-2</c:v>
                </c:pt>
                <c:pt idx="172">
                  <c:v>4.3000000000006366E-2</c:v>
                </c:pt>
                <c:pt idx="173">
                  <c:v>5.4000000000002046E-2</c:v>
                </c:pt>
                <c:pt idx="174">
                  <c:v>7.000000000000739E-2</c:v>
                </c:pt>
                <c:pt idx="175">
                  <c:v>9.3000000000003524E-2</c:v>
                </c:pt>
                <c:pt idx="176">
                  <c:v>0.12900000000000489</c:v>
                </c:pt>
                <c:pt idx="177">
                  <c:v>0.18200000000000216</c:v>
                </c:pt>
                <c:pt idx="178">
                  <c:v>0.26300000000000523</c:v>
                </c:pt>
                <c:pt idx="179">
                  <c:v>0.38300000000000978</c:v>
                </c:pt>
                <c:pt idx="180">
                  <c:v>0.42800000000001148</c:v>
                </c:pt>
                <c:pt idx="181">
                  <c:v>0.49500000000000455</c:v>
                </c:pt>
                <c:pt idx="182">
                  <c:v>0.59700000000000841</c:v>
                </c:pt>
                <c:pt idx="183">
                  <c:v>0.74900000000000944</c:v>
                </c:pt>
                <c:pt idx="184">
                  <c:v>0.8060000000000116</c:v>
                </c:pt>
                <c:pt idx="185">
                  <c:v>0.82699999999999818</c:v>
                </c:pt>
                <c:pt idx="186">
                  <c:v>0.85900000000000887</c:v>
                </c:pt>
                <c:pt idx="187">
                  <c:v>0.90700000000001069</c:v>
                </c:pt>
                <c:pt idx="188">
                  <c:v>0.9789999999999992</c:v>
                </c:pt>
                <c:pt idx="189">
                  <c:v>1.0880000000000081</c:v>
                </c:pt>
                <c:pt idx="190">
                  <c:v>1.25</c:v>
                </c:pt>
                <c:pt idx="191">
                  <c:v>1.4939999999999998</c:v>
                </c:pt>
                <c:pt idx="192">
                  <c:v>1.8590000000000089</c:v>
                </c:pt>
                <c:pt idx="193">
                  <c:v>1.9960000000000093</c:v>
                </c:pt>
                <c:pt idx="194">
                  <c:v>2.2010000000000076</c:v>
                </c:pt>
                <c:pt idx="195">
                  <c:v>2.2780000000000058</c:v>
                </c:pt>
                <c:pt idx="196">
                  <c:v>2.3940000000000055</c:v>
                </c:pt>
                <c:pt idx="197">
                  <c:v>2.5670000000000073</c:v>
                </c:pt>
                <c:pt idx="198">
                  <c:v>2.828000000000003</c:v>
                </c:pt>
                <c:pt idx="199">
                  <c:v>2.9250000000000114</c:v>
                </c:pt>
                <c:pt idx="200">
                  <c:v>3.0710000000000122</c:v>
                </c:pt>
                <c:pt idx="201">
                  <c:v>3.291000000000011</c:v>
                </c:pt>
                <c:pt idx="202">
                  <c:v>3.6200000000000045</c:v>
                </c:pt>
                <c:pt idx="203">
                  <c:v>4.1140000000000043</c:v>
                </c:pt>
                <c:pt idx="204">
                  <c:v>4.2990000000000066</c:v>
                </c:pt>
                <c:pt idx="205">
                  <c:v>4.5769999999999982</c:v>
                </c:pt>
                <c:pt idx="206">
                  <c:v>4.6810000000000116</c:v>
                </c:pt>
                <c:pt idx="207">
                  <c:v>4.8370000000000033</c:v>
                </c:pt>
                <c:pt idx="208">
                  <c:v>5.0710000000000122</c:v>
                </c:pt>
                <c:pt idx="209">
                  <c:v>5.4230000000000018</c:v>
                </c:pt>
                <c:pt idx="210">
                  <c:v>5.5550000000000068</c:v>
                </c:pt>
                <c:pt idx="211">
                  <c:v>5.7520000000000095</c:v>
                </c:pt>
                <c:pt idx="212">
                  <c:v>6.0490000000000066</c:v>
                </c:pt>
                <c:pt idx="213">
                  <c:v>6.2710000000000008</c:v>
                </c:pt>
                <c:pt idx="214">
                  <c:v>6.4939999999999998</c:v>
                </c:pt>
                <c:pt idx="215">
                  <c:v>6.8269999999999982</c:v>
                </c:pt>
                <c:pt idx="216">
                  <c:v>7.078000000000003</c:v>
                </c:pt>
                <c:pt idx="217">
                  <c:v>7.0930000000000035</c:v>
                </c:pt>
                <c:pt idx="218">
                  <c:v>7.105000000000004</c:v>
                </c:pt>
                <c:pt idx="219">
                  <c:v>7.1170000000000044</c:v>
                </c:pt>
                <c:pt idx="220">
                  <c:v>7.1340000000000003</c:v>
                </c:pt>
                <c:pt idx="221">
                  <c:v>7.1610000000000014</c:v>
                </c:pt>
                <c:pt idx="222">
                  <c:v>7.2000000000000028</c:v>
                </c:pt>
                <c:pt idx="223">
                  <c:v>7.2600000000000051</c:v>
                </c:pt>
                <c:pt idx="224">
                  <c:v>7.304000000000002</c:v>
                </c:pt>
                <c:pt idx="225">
                  <c:v>7.3490000000000038</c:v>
                </c:pt>
                <c:pt idx="226">
                  <c:v>7.416000000000011</c:v>
                </c:pt>
                <c:pt idx="227">
                  <c:v>7.5160000000000053</c:v>
                </c:pt>
                <c:pt idx="228">
                  <c:v>7.666000000000011</c:v>
                </c:pt>
                <c:pt idx="229">
                  <c:v>7.8920000000000101</c:v>
                </c:pt>
                <c:pt idx="230">
                  <c:v>8.061000000000007</c:v>
                </c:pt>
                <c:pt idx="231">
                  <c:v>8.230000000000004</c:v>
                </c:pt>
                <c:pt idx="232">
                  <c:v>8.4830000000000041</c:v>
                </c:pt>
                <c:pt idx="233">
                  <c:v>8.6740000000000066</c:v>
                </c:pt>
                <c:pt idx="234">
                  <c:v>8.8640000000000043</c:v>
                </c:pt>
                <c:pt idx="235">
                  <c:v>8.9350000000000023</c:v>
                </c:pt>
                <c:pt idx="236">
                  <c:v>9.0420000000000016</c:v>
                </c:pt>
                <c:pt idx="237">
                  <c:v>9.0820000000000078</c:v>
                </c:pt>
                <c:pt idx="238">
                  <c:v>9.1430000000000007</c:v>
                </c:pt>
                <c:pt idx="239">
                  <c:v>9.2330000000000041</c:v>
                </c:pt>
                <c:pt idx="240">
                  <c:v>9.3010000000000019</c:v>
                </c:pt>
                <c:pt idx="241">
                  <c:v>9.3680000000000092</c:v>
                </c:pt>
                <c:pt idx="242">
                  <c:v>9.4699999999999989</c:v>
                </c:pt>
                <c:pt idx="243">
                  <c:v>9.6219999999999999</c:v>
                </c:pt>
                <c:pt idx="244">
                  <c:v>9.8509999999999991</c:v>
                </c:pt>
                <c:pt idx="245">
                  <c:v>10.022000000000006</c:v>
                </c:pt>
                <c:pt idx="246">
                  <c:v>10.194000000000003</c:v>
                </c:pt>
                <c:pt idx="247">
                  <c:v>10.451000000000008</c:v>
                </c:pt>
                <c:pt idx="248">
                  <c:v>10.499000000000009</c:v>
                </c:pt>
                <c:pt idx="249">
                  <c:v>10.547000000000011</c:v>
                </c:pt>
                <c:pt idx="250">
                  <c:v>10.620000000000005</c:v>
                </c:pt>
                <c:pt idx="251">
                  <c:v>10.692000000000007</c:v>
                </c:pt>
                <c:pt idx="252">
                  <c:v>10.800000000000011</c:v>
                </c:pt>
                <c:pt idx="253">
                  <c:v>10.963000000000008</c:v>
                </c:pt>
                <c:pt idx="254">
                  <c:v>10.978000000000009</c:v>
                </c:pt>
                <c:pt idx="255">
                  <c:v>11.001000000000005</c:v>
                </c:pt>
                <c:pt idx="256">
                  <c:v>11.035000000000011</c:v>
                </c:pt>
                <c:pt idx="257">
                  <c:v>11.087000000000003</c:v>
                </c:pt>
                <c:pt idx="258">
                  <c:v>11.164000000000001</c:v>
                </c:pt>
                <c:pt idx="259">
                  <c:v>11.280000000000001</c:v>
                </c:pt>
                <c:pt idx="260">
                  <c:v>11.454000000000008</c:v>
                </c:pt>
                <c:pt idx="261">
                  <c:v>11.519000000000005</c:v>
                </c:pt>
                <c:pt idx="262">
                  <c:v>11.617000000000004</c:v>
                </c:pt>
                <c:pt idx="263">
                  <c:v>11.763000000000005</c:v>
                </c:pt>
                <c:pt idx="264">
                  <c:v>11.818000000000012</c:v>
                </c:pt>
                <c:pt idx="265">
                  <c:v>11.90100000000001</c:v>
                </c:pt>
                <c:pt idx="266">
                  <c:v>11.932000000000002</c:v>
                </c:pt>
                <c:pt idx="267">
                  <c:v>11.978000000000009</c:v>
                </c:pt>
                <c:pt idx="268">
                  <c:v>12.048000000000002</c:v>
                </c:pt>
                <c:pt idx="269">
                  <c:v>12.152000000000001</c:v>
                </c:pt>
                <c:pt idx="270">
                  <c:v>12.191000000000003</c:v>
                </c:pt>
                <c:pt idx="271">
                  <c:v>12.25</c:v>
                </c:pt>
                <c:pt idx="272">
                  <c:v>12.338000000000008</c:v>
                </c:pt>
                <c:pt idx="273">
                  <c:v>12.371000000000009</c:v>
                </c:pt>
                <c:pt idx="274">
                  <c:v>12.420000000000002</c:v>
                </c:pt>
                <c:pt idx="275">
                  <c:v>12.495000000000005</c:v>
                </c:pt>
                <c:pt idx="276">
                  <c:v>12.606000000000009</c:v>
                </c:pt>
                <c:pt idx="277">
                  <c:v>12.77300000000001</c:v>
                </c:pt>
                <c:pt idx="278">
                  <c:v>12.835999999999999</c:v>
                </c:pt>
                <c:pt idx="279">
                  <c:v>12.930000000000007</c:v>
                </c:pt>
                <c:pt idx="280">
                  <c:v>13.071000000000012</c:v>
                </c:pt>
                <c:pt idx="281">
                  <c:v>13.124000000000009</c:v>
                </c:pt>
                <c:pt idx="282">
                  <c:v>13.203000000000003</c:v>
                </c:pt>
                <c:pt idx="283">
                  <c:v>13.263000000000005</c:v>
                </c:pt>
                <c:pt idx="284">
                  <c:v>13.322000000000003</c:v>
                </c:pt>
                <c:pt idx="285">
                  <c:v>13.412000000000006</c:v>
                </c:pt>
                <c:pt idx="286">
                  <c:v>13.545000000000002</c:v>
                </c:pt>
                <c:pt idx="287">
                  <c:v>13.746000000000009</c:v>
                </c:pt>
                <c:pt idx="288">
                  <c:v>14.048000000000002</c:v>
                </c:pt>
                <c:pt idx="289">
                  <c:v>14.161000000000001</c:v>
                </c:pt>
                <c:pt idx="290">
                  <c:v>14.329999999999998</c:v>
                </c:pt>
                <c:pt idx="291">
                  <c:v>14.457000000000008</c:v>
                </c:pt>
                <c:pt idx="292">
                  <c:v>14.584000000000003</c:v>
                </c:pt>
                <c:pt idx="293">
                  <c:v>14.775000000000006</c:v>
                </c:pt>
                <c:pt idx="294">
                  <c:v>14.831000000000003</c:v>
                </c:pt>
                <c:pt idx="295">
                  <c:v>14.916000000000011</c:v>
                </c:pt>
                <c:pt idx="296">
                  <c:v>15</c:v>
                </c:pt>
                <c:pt idx="297">
                  <c:v>15</c:v>
                </c:pt>
                <c:pt idx="298">
                  <c:v>14.950000000000003</c:v>
                </c:pt>
                <c:pt idx="299">
                  <c:v>14.912000000000006</c:v>
                </c:pt>
                <c:pt idx="300">
                  <c:v>14.875</c:v>
                </c:pt>
                <c:pt idx="301">
                  <c:v>14.847000000000008</c:v>
                </c:pt>
              </c:numCache>
            </c:numRef>
          </c:xVal>
          <c:yVal>
            <c:numRef>
              <c:f>Sheet1!$AJ$6:$AJ$339</c:f>
              <c:numCache>
                <c:formatCode>General</c:formatCode>
                <c:ptCount val="334"/>
                <c:pt idx="0">
                  <c:v>0</c:v>
                </c:pt>
                <c:pt idx="1">
                  <c:v>4.14348E-7</c:v>
                </c:pt>
                <c:pt idx="2">
                  <c:v>6.8911900000000003E-16</c:v>
                </c:pt>
                <c:pt idx="3">
                  <c:v>-5.3802599999999999E-12</c:v>
                </c:pt>
                <c:pt idx="4">
                  <c:v>-1.70081E-9</c:v>
                </c:pt>
                <c:pt idx="5">
                  <c:v>1.41189E-9</c:v>
                </c:pt>
                <c:pt idx="6">
                  <c:v>2.0450500000000001E-9</c:v>
                </c:pt>
                <c:pt idx="7">
                  <c:v>1.1203E-10</c:v>
                </c:pt>
                <c:pt idx="8">
                  <c:v>7.3534099999999999E-12</c:v>
                </c:pt>
                <c:pt idx="9">
                  <c:v>4.9136899999999998E-13</c:v>
                </c:pt>
                <c:pt idx="10">
                  <c:v>-8.4025199999999996E-17</c:v>
                </c:pt>
                <c:pt idx="11">
                  <c:v>8.9841100000000002E-20</c:v>
                </c:pt>
                <c:pt idx="12">
                  <c:v>-1.1070500000000001E-19</c:v>
                </c:pt>
                <c:pt idx="13">
                  <c:v>-6.6485599999999998E-22</c:v>
                </c:pt>
                <c:pt idx="14">
                  <c:v>8.0223800000000003E-22</c:v>
                </c:pt>
                <c:pt idx="15">
                  <c:v>1.9151000000000001E-23</c:v>
                </c:pt>
                <c:pt idx="16">
                  <c:v>1.35572E-24</c:v>
                </c:pt>
                <c:pt idx="17">
                  <c:v>1.49448E-24</c:v>
                </c:pt>
                <c:pt idx="18">
                  <c:v>-1.4131799999999999E-25</c:v>
                </c:pt>
                <c:pt idx="19">
                  <c:v>-1.35225E-27</c:v>
                </c:pt>
                <c:pt idx="20">
                  <c:v>-4.6740599999999998E-28</c:v>
                </c:pt>
                <c:pt idx="21">
                  <c:v>-2.03327E-28</c:v>
                </c:pt>
                <c:pt idx="22">
                  <c:v>-1.49688E-29</c:v>
                </c:pt>
                <c:pt idx="23">
                  <c:v>2.4126599999999999E-30</c:v>
                </c:pt>
                <c:pt idx="24">
                  <c:v>2.2666499999999998E-31</c:v>
                </c:pt>
                <c:pt idx="25">
                  <c:v>2.1300600000000001E-32</c:v>
                </c:pt>
                <c:pt idx="26">
                  <c:v>2.6082100000000001E-33</c:v>
                </c:pt>
                <c:pt idx="27">
                  <c:v>1.90744E-34</c:v>
                </c:pt>
                <c:pt idx="28">
                  <c:v>1.4488E-35</c:v>
                </c:pt>
                <c:pt idx="29">
                  <c:v>1.4439999999999999E-36</c:v>
                </c:pt>
                <c:pt idx="30">
                  <c:v>-5.4863999999999999E-37</c:v>
                </c:pt>
                <c:pt idx="31">
                  <c:v>-6.6530999999999998E-38</c:v>
                </c:pt>
                <c:pt idx="32">
                  <c:v>-8.94629E-38</c:v>
                </c:pt>
                <c:pt idx="33">
                  <c:v>-2.2538699999999999E-38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10.035299999999999</c:v>
                </c:pt>
                <c:pt idx="170">
                  <c:v>20.053999999999998</c:v>
                </c:pt>
                <c:pt idx="171">
                  <c:v>30.111499999999999</c:v>
                </c:pt>
                <c:pt idx="172">
                  <c:v>45.223399999999998</c:v>
                </c:pt>
                <c:pt idx="173">
                  <c:v>68.083600000000004</c:v>
                </c:pt>
                <c:pt idx="174">
                  <c:v>105.026</c:v>
                </c:pt>
                <c:pt idx="175">
                  <c:v>163.244</c:v>
                </c:pt>
                <c:pt idx="176">
                  <c:v>254.172</c:v>
                </c:pt>
                <c:pt idx="177">
                  <c:v>392.608</c:v>
                </c:pt>
                <c:pt idx="178">
                  <c:v>441.94600000000003</c:v>
                </c:pt>
                <c:pt idx="179">
                  <c:v>507.65499999999997</c:v>
                </c:pt>
                <c:pt idx="180">
                  <c:v>581.90800000000002</c:v>
                </c:pt>
                <c:pt idx="181">
                  <c:v>683.98900000000003</c:v>
                </c:pt>
                <c:pt idx="182">
                  <c:v>720.52800000000002</c:v>
                </c:pt>
                <c:pt idx="183">
                  <c:v>734.48599999999999</c:v>
                </c:pt>
                <c:pt idx="184">
                  <c:v>756.41700000000003</c:v>
                </c:pt>
                <c:pt idx="185">
                  <c:v>788.24400000000003</c:v>
                </c:pt>
                <c:pt idx="186">
                  <c:v>831.26900000000001</c:v>
                </c:pt>
                <c:pt idx="187">
                  <c:v>894.67700000000002</c:v>
                </c:pt>
                <c:pt idx="188">
                  <c:v>980.404</c:v>
                </c:pt>
                <c:pt idx="189">
                  <c:v>1125.56</c:v>
                </c:pt>
                <c:pt idx="190">
                  <c:v>1425</c:v>
                </c:pt>
                <c:pt idx="191">
                  <c:v>1569.97</c:v>
                </c:pt>
                <c:pt idx="192">
                  <c:v>1801.39</c:v>
                </c:pt>
                <c:pt idx="193">
                  <c:v>1876.74</c:v>
                </c:pt>
                <c:pt idx="194">
                  <c:v>1977.66</c:v>
                </c:pt>
                <c:pt idx="195">
                  <c:v>2124.65</c:v>
                </c:pt>
                <c:pt idx="196">
                  <c:v>2336.6</c:v>
                </c:pt>
                <c:pt idx="197">
                  <c:v>2417.52</c:v>
                </c:pt>
                <c:pt idx="198">
                  <c:v>2551.2600000000002</c:v>
                </c:pt>
                <c:pt idx="199">
                  <c:v>2757.78</c:v>
                </c:pt>
                <c:pt idx="200">
                  <c:v>3052.73</c:v>
                </c:pt>
                <c:pt idx="201">
                  <c:v>3489.12</c:v>
                </c:pt>
                <c:pt idx="202">
                  <c:v>3658.78</c:v>
                </c:pt>
                <c:pt idx="203">
                  <c:v>3910.31</c:v>
                </c:pt>
                <c:pt idx="204">
                  <c:v>4004.08</c:v>
                </c:pt>
                <c:pt idx="205">
                  <c:v>4147.22</c:v>
                </c:pt>
                <c:pt idx="206">
                  <c:v>4369.97</c:v>
                </c:pt>
                <c:pt idx="207">
                  <c:v>4730.57</c:v>
                </c:pt>
                <c:pt idx="208">
                  <c:v>4878.8100000000004</c:v>
                </c:pt>
                <c:pt idx="209">
                  <c:v>5097.7700000000004</c:v>
                </c:pt>
                <c:pt idx="210">
                  <c:v>5423.83</c:v>
                </c:pt>
                <c:pt idx="211">
                  <c:v>5654.66</c:v>
                </c:pt>
                <c:pt idx="212">
                  <c:v>5880.25</c:v>
                </c:pt>
                <c:pt idx="213">
                  <c:v>6208.27</c:v>
                </c:pt>
                <c:pt idx="214">
                  <c:v>6456.37</c:v>
                </c:pt>
                <c:pt idx="215">
                  <c:v>6471.72</c:v>
                </c:pt>
                <c:pt idx="216">
                  <c:v>6483.16</c:v>
                </c:pt>
                <c:pt idx="217">
                  <c:v>6494.36</c:v>
                </c:pt>
                <c:pt idx="218">
                  <c:v>6511.69</c:v>
                </c:pt>
                <c:pt idx="219">
                  <c:v>6536.84</c:v>
                </c:pt>
                <c:pt idx="220">
                  <c:v>6574.02</c:v>
                </c:pt>
                <c:pt idx="221">
                  <c:v>6623.49</c:v>
                </c:pt>
                <c:pt idx="222">
                  <c:v>6659.24</c:v>
                </c:pt>
                <c:pt idx="223">
                  <c:v>6696.84</c:v>
                </c:pt>
                <c:pt idx="224">
                  <c:v>6761.81</c:v>
                </c:pt>
                <c:pt idx="225">
                  <c:v>6857.84</c:v>
                </c:pt>
                <c:pt idx="226">
                  <c:v>6999.11</c:v>
                </c:pt>
                <c:pt idx="227">
                  <c:v>7200.09</c:v>
                </c:pt>
                <c:pt idx="228">
                  <c:v>7344.81</c:v>
                </c:pt>
                <c:pt idx="229">
                  <c:v>7521.02</c:v>
                </c:pt>
                <c:pt idx="230">
                  <c:v>7821.05</c:v>
                </c:pt>
                <c:pt idx="231">
                  <c:v>8026.85</c:v>
                </c:pt>
                <c:pt idx="232">
                  <c:v>8212.01</c:v>
                </c:pt>
                <c:pt idx="233">
                  <c:v>8281.0499999999993</c:v>
                </c:pt>
                <c:pt idx="234">
                  <c:v>8394.5</c:v>
                </c:pt>
                <c:pt idx="235">
                  <c:v>8441.4599999999991</c:v>
                </c:pt>
                <c:pt idx="236">
                  <c:v>8507.24</c:v>
                </c:pt>
                <c:pt idx="237">
                  <c:v>8592.26</c:v>
                </c:pt>
                <c:pt idx="238">
                  <c:v>8658.42</c:v>
                </c:pt>
                <c:pt idx="239">
                  <c:v>8726.36</c:v>
                </c:pt>
                <c:pt idx="240">
                  <c:v>8830.7099999999991</c:v>
                </c:pt>
                <c:pt idx="241">
                  <c:v>8996.5400000000009</c:v>
                </c:pt>
                <c:pt idx="242">
                  <c:v>9232.24</c:v>
                </c:pt>
                <c:pt idx="243">
                  <c:v>9392.27</c:v>
                </c:pt>
                <c:pt idx="244">
                  <c:v>9536.99</c:v>
                </c:pt>
                <c:pt idx="245">
                  <c:v>9741.0300000000007</c:v>
                </c:pt>
                <c:pt idx="246">
                  <c:v>9801.36</c:v>
                </c:pt>
                <c:pt idx="247">
                  <c:v>9861.43</c:v>
                </c:pt>
                <c:pt idx="248">
                  <c:v>9942.7900000000009</c:v>
                </c:pt>
                <c:pt idx="249">
                  <c:v>10014.299999999999</c:v>
                </c:pt>
                <c:pt idx="250">
                  <c:v>10127.1</c:v>
                </c:pt>
                <c:pt idx="251">
                  <c:v>10319.299999999999</c:v>
                </c:pt>
                <c:pt idx="252">
                  <c:v>10332.5</c:v>
                </c:pt>
                <c:pt idx="253">
                  <c:v>10355.299999999999</c:v>
                </c:pt>
                <c:pt idx="254">
                  <c:v>10386</c:v>
                </c:pt>
                <c:pt idx="255">
                  <c:v>10428.700000000001</c:v>
                </c:pt>
                <c:pt idx="256">
                  <c:v>10488</c:v>
                </c:pt>
                <c:pt idx="257">
                  <c:v>10567.5</c:v>
                </c:pt>
                <c:pt idx="258">
                  <c:v>10695.9</c:v>
                </c:pt>
                <c:pt idx="259">
                  <c:v>10749.3</c:v>
                </c:pt>
                <c:pt idx="260">
                  <c:v>10822.8</c:v>
                </c:pt>
                <c:pt idx="261">
                  <c:v>10915.5</c:v>
                </c:pt>
                <c:pt idx="262">
                  <c:v>10947.6</c:v>
                </c:pt>
                <c:pt idx="263">
                  <c:v>11002.2</c:v>
                </c:pt>
                <c:pt idx="264">
                  <c:v>11025.1</c:v>
                </c:pt>
                <c:pt idx="265">
                  <c:v>11058.3</c:v>
                </c:pt>
                <c:pt idx="266">
                  <c:v>11103.4</c:v>
                </c:pt>
                <c:pt idx="267">
                  <c:v>11166.5</c:v>
                </c:pt>
                <c:pt idx="268">
                  <c:v>11196.1</c:v>
                </c:pt>
                <c:pt idx="269">
                  <c:v>11232.9</c:v>
                </c:pt>
                <c:pt idx="270">
                  <c:v>11278.9</c:v>
                </c:pt>
                <c:pt idx="271">
                  <c:v>11294.4</c:v>
                </c:pt>
                <c:pt idx="272">
                  <c:v>11322</c:v>
                </c:pt>
                <c:pt idx="273">
                  <c:v>11367.8</c:v>
                </c:pt>
                <c:pt idx="274">
                  <c:v>11457.4</c:v>
                </c:pt>
                <c:pt idx="275">
                  <c:v>11555.9</c:v>
                </c:pt>
                <c:pt idx="276">
                  <c:v>11595.8</c:v>
                </c:pt>
                <c:pt idx="277">
                  <c:v>11658.3</c:v>
                </c:pt>
                <c:pt idx="278">
                  <c:v>11749.6</c:v>
                </c:pt>
                <c:pt idx="279">
                  <c:v>11778.5</c:v>
                </c:pt>
                <c:pt idx="280">
                  <c:v>11809.8</c:v>
                </c:pt>
                <c:pt idx="281">
                  <c:v>11830.8</c:v>
                </c:pt>
                <c:pt idx="282">
                  <c:v>11863</c:v>
                </c:pt>
                <c:pt idx="283">
                  <c:v>11932</c:v>
                </c:pt>
                <c:pt idx="284">
                  <c:v>12035.3</c:v>
                </c:pt>
                <c:pt idx="285">
                  <c:v>12168.5</c:v>
                </c:pt>
                <c:pt idx="286">
                  <c:v>12297.9</c:v>
                </c:pt>
                <c:pt idx="287">
                  <c:v>12376.5</c:v>
                </c:pt>
                <c:pt idx="288">
                  <c:v>12457.3</c:v>
                </c:pt>
                <c:pt idx="289">
                  <c:v>12515.7</c:v>
                </c:pt>
                <c:pt idx="290">
                  <c:v>12576.1</c:v>
                </c:pt>
                <c:pt idx="291">
                  <c:v>12652.8</c:v>
                </c:pt>
                <c:pt idx="292">
                  <c:v>12703.1</c:v>
                </c:pt>
                <c:pt idx="293">
                  <c:v>12746.1</c:v>
                </c:pt>
                <c:pt idx="294">
                  <c:v>12770.2</c:v>
                </c:pt>
                <c:pt idx="295">
                  <c:v>12770.2</c:v>
                </c:pt>
                <c:pt idx="296">
                  <c:v>7002.76</c:v>
                </c:pt>
                <c:pt idx="297">
                  <c:v>3927.06</c:v>
                </c:pt>
                <c:pt idx="298">
                  <c:v>1070.8399999999999</c:v>
                </c:pt>
                <c:pt idx="299">
                  <c:v>96.233199999999997</c:v>
                </c:pt>
                <c:pt idx="300">
                  <c:v>13.147600000000001</c:v>
                </c:pt>
                <c:pt idx="301">
                  <c:v>1.16195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B059-40A6-8A9B-6B95EAA1EB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84491824"/>
        <c:axId val="1084480176"/>
      </c:scatterChart>
      <c:valAx>
        <c:axId val="10844918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4480176"/>
        <c:crosses val="autoZero"/>
        <c:crossBetween val="midCat"/>
      </c:valAx>
      <c:valAx>
        <c:axId val="1084480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449182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drawing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0.17024</cdr:x>
      <cdr:y>0</cdr:y>
    </cdr:from>
    <cdr:to>
      <cdr:x>0.91559</cdr:x>
      <cdr:y>0.15974</cdr:y>
    </cdr:to>
    <cdr:pic>
      <cdr:nvPicPr>
        <cdr:cNvPr id="2" name="chart"/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1133474" y="0"/>
          <a:ext cx="4962525" cy="637534"/>
        </a:xfrm>
        <a:prstGeom xmlns:a="http://schemas.openxmlformats.org/drawingml/2006/main" prst="rect">
          <a:avLst/>
        </a:prstGeom>
      </cdr:spPr>
    </cdr:pic>
  </cdr:relSizeAnchor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Picture 2"/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2" cstate="print">
          <a:extLst>
            <a:ext uri="{28A0092B-C50C-407E-A947-70E740481C1C}">
              <a14:useLocalDpi xmlns:a14="http://schemas.microsoft.com/office/drawing/2010/main" val="0"/>
            </a:ext>
          </a:extLst>
        </a:blip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4525347" cy="1569536"/>
        </a:xfrm>
        <a:prstGeom xmlns:a="http://schemas.openxmlformats.org/drawingml/2006/main" prst="rect">
          <a:avLst/>
        </a:prstGeom>
      </cdr:spPr>
    </cdr:pic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0.17024</cdr:x>
      <cdr:y>0</cdr:y>
    </cdr:from>
    <cdr:to>
      <cdr:x>0.91559</cdr:x>
      <cdr:y>0.15974</cdr:y>
    </cdr:to>
    <cdr:pic>
      <cdr:nvPicPr>
        <cdr:cNvPr id="2" name="chart"/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1133474" y="0"/>
          <a:ext cx="4962525" cy="637534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448220-C5A4-4B65-93A5-43BD1F9A8DE7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72DF8E-317F-4316-909C-D701262E8D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789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1256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74713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682D8-2511-4AE0-A01C-87A192B22841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D67A0-8E6E-4D4F-86AD-FC0D4CF8BB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7472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682D8-2511-4AE0-A01C-87A192B22841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D67A0-8E6E-4D4F-86AD-FC0D4CF8BB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583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682D8-2511-4AE0-A01C-87A192B22841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D67A0-8E6E-4D4F-86AD-FC0D4CF8BB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292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682D8-2511-4AE0-A01C-87A192B22841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D67A0-8E6E-4D4F-86AD-FC0D4CF8BB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152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682D8-2511-4AE0-A01C-87A192B22841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D67A0-8E6E-4D4F-86AD-FC0D4CF8BB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410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682D8-2511-4AE0-A01C-87A192B22841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D67A0-8E6E-4D4F-86AD-FC0D4CF8BB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51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682D8-2511-4AE0-A01C-87A192B22841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D67A0-8E6E-4D4F-86AD-FC0D4CF8BB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2021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682D8-2511-4AE0-A01C-87A192B22841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D67A0-8E6E-4D4F-86AD-FC0D4CF8BB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3075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682D8-2511-4AE0-A01C-87A192B22841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D67A0-8E6E-4D4F-86AD-FC0D4CF8BB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266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682D8-2511-4AE0-A01C-87A192B22841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D67A0-8E6E-4D4F-86AD-FC0D4CF8BB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2410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682D8-2511-4AE0-A01C-87A192B22841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D67A0-8E6E-4D4F-86AD-FC0D4CF8BB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044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682D8-2511-4AE0-A01C-87A192B22841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1D67A0-8E6E-4D4F-86AD-FC0D4CF8BB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5995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-2515" y="6541184"/>
            <a:ext cx="12192000" cy="338554"/>
          </a:xfrm>
          <a:prstGeom prst="rect">
            <a:avLst/>
          </a:prstGeom>
          <a:solidFill>
            <a:srgbClr val="8B203E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Mechanical &amp; Aerospace Engineering, IIT Hyderabad</a:t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11758817" y="6549762"/>
            <a:ext cx="321398" cy="321398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l="23031" t="12642" r="21364" b="13219"/>
          <a:stretch/>
        </p:blipFill>
        <p:spPr>
          <a:xfrm>
            <a:off x="111785" y="6536601"/>
            <a:ext cx="321399" cy="321399"/>
          </a:xfrm>
          <a:prstGeom prst="ellipse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11782945" y="6562436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910393" y="288978"/>
            <a:ext cx="10366183" cy="564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sng" dirty="0">
                <a:solidFill>
                  <a:srgbClr val="8B20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Finite Element Methods Lab</a:t>
            </a:r>
            <a:endParaRPr sz="2800" b="1" u="sng" dirty="0">
              <a:solidFill>
                <a:srgbClr val="8B203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3" name="Google Shape;93;p1"/>
          <p:cNvGrpSpPr/>
          <p:nvPr/>
        </p:nvGrpSpPr>
        <p:grpSpPr>
          <a:xfrm>
            <a:off x="272741" y="2166319"/>
            <a:ext cx="11585172" cy="1696991"/>
            <a:chOff x="441256" y="2061803"/>
            <a:chExt cx="9449119" cy="1696992"/>
          </a:xfrm>
        </p:grpSpPr>
        <p:sp>
          <p:nvSpPr>
            <p:cNvPr id="94" name="Google Shape;94;p1"/>
            <p:cNvSpPr txBox="1"/>
            <p:nvPr/>
          </p:nvSpPr>
          <p:spPr>
            <a:xfrm>
              <a:off x="2071481" y="2061803"/>
              <a:ext cx="7818894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dirty="0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Elastic-Plastic Finite Element Analysis of Deep Drawing of a square cup</a:t>
              </a:r>
              <a:endParaRPr sz="1600" b="1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95" name="Google Shape;95;p1"/>
            <p:cNvGrpSpPr/>
            <p:nvPr/>
          </p:nvGrpSpPr>
          <p:grpSpPr>
            <a:xfrm>
              <a:off x="441256" y="2290024"/>
              <a:ext cx="8547399" cy="1468770"/>
              <a:chOff x="441256" y="2290024"/>
              <a:chExt cx="8547399" cy="1468770"/>
            </a:xfrm>
          </p:grpSpPr>
          <p:pic>
            <p:nvPicPr>
              <p:cNvPr id="96" name="Google Shape;96;p1" descr="IITH Logo Design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441256" y="2290024"/>
                <a:ext cx="1457230" cy="14673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7" name="Google Shape;97;p1"/>
              <p:cNvSpPr/>
              <p:nvPr/>
            </p:nvSpPr>
            <p:spPr>
              <a:xfrm rot="5400000">
                <a:off x="1288871" y="3033935"/>
                <a:ext cx="1404000" cy="45719"/>
              </a:xfrm>
              <a:prstGeom prst="rect">
                <a:avLst/>
              </a:prstGeom>
              <a:solidFill>
                <a:srgbClr val="8B20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8" name="Google Shape;98;p1"/>
              <p:cNvCxnSpPr/>
              <p:nvPr/>
            </p:nvCxnSpPr>
            <p:spPr>
              <a:xfrm>
                <a:off x="2071481" y="2592280"/>
                <a:ext cx="6693225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000099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99" name="Google Shape;99;p1"/>
              <p:cNvSpPr txBox="1"/>
              <p:nvPr/>
            </p:nvSpPr>
            <p:spPr>
              <a:xfrm>
                <a:off x="1968010" y="2607923"/>
                <a:ext cx="7020645" cy="1015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dirty="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Dept. of Mechanical &amp; Aerospace Engineering, IIT Hyderabad</a:t>
                </a:r>
                <a:endParaRPr dirty="0">
                  <a:solidFill>
                    <a:srgbClr val="002060"/>
                  </a:solidFill>
                </a:endParaRPr>
              </a:p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dirty="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Course Instructor: Dr. </a:t>
                </a:r>
                <a:r>
                  <a:rPr lang="en-US" sz="2000" dirty="0" err="1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Muvvala</a:t>
                </a:r>
                <a:r>
                  <a:rPr lang="en-US" sz="2000" dirty="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Gopinath</a:t>
                </a:r>
                <a:endParaRPr sz="2000" b="1" dirty="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100" name="Google Shape;100;p1"/>
          <p:cNvGrpSpPr/>
          <p:nvPr/>
        </p:nvGrpSpPr>
        <p:grpSpPr>
          <a:xfrm>
            <a:off x="9916980" y="4374397"/>
            <a:ext cx="2002536" cy="2002536"/>
            <a:chOff x="6918453" y="4648570"/>
            <a:chExt cx="2209430" cy="2209430"/>
          </a:xfrm>
        </p:grpSpPr>
        <p:sp>
          <p:nvSpPr>
            <p:cNvPr id="101" name="Google Shape;101;p1"/>
            <p:cNvSpPr/>
            <p:nvPr/>
          </p:nvSpPr>
          <p:spPr>
            <a:xfrm>
              <a:off x="6918453" y="4648570"/>
              <a:ext cx="2209430" cy="2209430"/>
            </a:xfrm>
            <a:prstGeom prst="ellipse">
              <a:avLst/>
            </a:prstGeom>
            <a:solidFill>
              <a:schemeClr val="lt1"/>
            </a:solidFill>
            <a:ln w="34925" cap="flat" cmpd="sng">
              <a:solidFill>
                <a:srgbClr val="8C1F3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2" name="Google Shape;102;p1"/>
            <p:cNvGrpSpPr/>
            <p:nvPr/>
          </p:nvGrpSpPr>
          <p:grpSpPr>
            <a:xfrm>
              <a:off x="7148363" y="5259492"/>
              <a:ext cx="1884772" cy="1051114"/>
              <a:chOff x="6775505" y="5081896"/>
              <a:chExt cx="2311935" cy="1289339"/>
            </a:xfrm>
          </p:grpSpPr>
          <p:pic>
            <p:nvPicPr>
              <p:cNvPr id="103" name="Google Shape;103;p1"/>
              <p:cNvPicPr preferRelativeResize="0"/>
              <p:nvPr/>
            </p:nvPicPr>
            <p:blipFill rotWithShape="1">
              <a:blip r:embed="rId5">
                <a:alphaModFix/>
              </a:blip>
              <a:srcRect l="10836" t="2254" r="24405" b="568"/>
              <a:stretch/>
            </p:blipFill>
            <p:spPr>
              <a:xfrm>
                <a:off x="7809710" y="5093504"/>
                <a:ext cx="1277730" cy="1277731"/>
              </a:xfrm>
              <a:prstGeom prst="ellipse">
                <a:avLst/>
              </a:prstGeom>
              <a:noFill/>
              <a:ln w="28575" cap="flat" cmpd="sng">
                <a:solidFill>
                  <a:srgbClr val="EF4023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pic>
            <p:nvPicPr>
              <p:cNvPr id="104" name="Google Shape;104;p1"/>
              <p:cNvPicPr preferRelativeResize="0"/>
              <p:nvPr/>
            </p:nvPicPr>
            <p:blipFill rotWithShape="1">
              <a:blip r:embed="rId6">
                <a:alphaModFix/>
              </a:blip>
              <a:srcRect l="-16033" t="-5679" r="-17775" b="-26804"/>
              <a:stretch/>
            </p:blipFill>
            <p:spPr>
              <a:xfrm>
                <a:off x="6775505" y="5081896"/>
                <a:ext cx="1277730" cy="1277729"/>
              </a:xfrm>
              <a:prstGeom prst="ellipse">
                <a:avLst/>
              </a:prstGeom>
              <a:solidFill>
                <a:schemeClr val="lt1"/>
              </a:solidFill>
              <a:ln w="28575" cap="flat" cmpd="sng">
                <a:solidFill>
                  <a:srgbClr val="EF4023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</p:grpSp>
      </p:grpSp>
      <p:sp>
        <p:nvSpPr>
          <p:cNvPr id="2" name="TextBox 1"/>
          <p:cNvSpPr txBox="1"/>
          <p:nvPr/>
        </p:nvSpPr>
        <p:spPr>
          <a:xfrm>
            <a:off x="4825715" y="4488311"/>
            <a:ext cx="5195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BARATH.I</a:t>
            </a:r>
          </a:p>
          <a:p>
            <a:r>
              <a:rPr lang="en-IN" dirty="0" smtClean="0"/>
              <a:t>ME25MTECH11002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8399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/>
          <p:nvPr/>
        </p:nvSpPr>
        <p:spPr>
          <a:xfrm>
            <a:off x="-2515" y="6541184"/>
            <a:ext cx="12192000" cy="338554"/>
          </a:xfrm>
          <a:prstGeom prst="rect">
            <a:avLst/>
          </a:prstGeom>
          <a:solidFill>
            <a:srgbClr val="8B203E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Mechanical &amp; Aerospace Engineering, IIT Hyderabad</a:t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11351411" y="6359639"/>
            <a:ext cx="321398" cy="321398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0" y="335017"/>
            <a:ext cx="12192000" cy="55829"/>
          </a:xfrm>
          <a:prstGeom prst="rect">
            <a:avLst/>
          </a:prstGeom>
          <a:solidFill>
            <a:srgbClr val="8B20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2"/>
          <p:cNvPicPr preferRelativeResize="0"/>
          <p:nvPr/>
        </p:nvPicPr>
        <p:blipFill rotWithShape="1">
          <a:blip r:embed="rId3">
            <a:alphaModFix/>
          </a:blip>
          <a:srcRect l="23031" t="12642" r="21364" b="13219"/>
          <a:stretch/>
        </p:blipFill>
        <p:spPr>
          <a:xfrm>
            <a:off x="111785" y="6536601"/>
            <a:ext cx="321399" cy="321399"/>
          </a:xfrm>
          <a:prstGeom prst="ellipse">
            <a:avLst/>
          </a:prstGeom>
          <a:noFill/>
          <a:ln>
            <a:noFill/>
          </a:ln>
        </p:spPr>
      </p:pic>
      <p:sp>
        <p:nvSpPr>
          <p:cNvPr id="114" name="Google Shape;114;p2"/>
          <p:cNvSpPr/>
          <p:nvPr/>
        </p:nvSpPr>
        <p:spPr>
          <a:xfrm>
            <a:off x="-2515" y="-47625"/>
            <a:ext cx="121920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8B20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Finite Element Analysis of Deep Drawing of a square cup</a:t>
            </a:r>
            <a:endParaRPr sz="2200" b="1">
              <a:solidFill>
                <a:srgbClr val="8B203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11375539" y="6372313"/>
            <a:ext cx="27603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433184" y="880721"/>
            <a:ext cx="660004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400"/>
            </a:pPr>
            <a:r>
              <a:rPr lang="en-US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Blank size: </a:t>
            </a:r>
            <a:r>
              <a:rPr lang="en-US" sz="1400" dirty="0" err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1400" baseline="-25000" dirty="0" err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1400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124 mm, thickness t</a:t>
            </a:r>
            <a:r>
              <a:rPr lang="en-US" sz="1400" baseline="-25000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1400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 mm</a:t>
            </a:r>
          </a:p>
          <a:p>
            <a:pPr>
              <a:lnSpc>
                <a:spcPct val="200000"/>
              </a:lnSpc>
              <a:buClr>
                <a:srgbClr val="990000"/>
              </a:buClr>
              <a:buSzPts val="1400"/>
            </a:pPr>
            <a:r>
              <a:rPr lang="en-US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Punch size:</a:t>
            </a:r>
            <a:r>
              <a:rPr lang="en-US" sz="1400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1400" baseline="-25000" dirty="0" err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1400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70 mm, punch profile radius: </a:t>
            </a:r>
            <a:r>
              <a:rPr lang="en-US" sz="1400" dirty="0" err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1400" baseline="-25000" dirty="0" err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pp</a:t>
            </a:r>
            <a:r>
              <a:rPr lang="en-US" sz="1400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8 mm, corner radius: </a:t>
            </a:r>
            <a:r>
              <a:rPr lang="en-US" sz="1400" dirty="0" err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1400" baseline="-25000" dirty="0" err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pc</a:t>
            </a:r>
            <a:r>
              <a:rPr lang="en-US" sz="1400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10 mm</a:t>
            </a:r>
            <a:endParaRPr lang="en-US" sz="1400" dirty="0">
              <a:ea typeface="Times New Roman"/>
            </a:endParaRPr>
          </a:p>
          <a:p>
            <a:pPr>
              <a:lnSpc>
                <a:spcPct val="200000"/>
              </a:lnSpc>
              <a:buClr>
                <a:srgbClr val="990000"/>
              </a:buClr>
              <a:buSzPts val="1400"/>
            </a:pPr>
            <a:r>
              <a:rPr lang="en-US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Die size: </a:t>
            </a:r>
            <a:r>
              <a:rPr lang="en-US" sz="1400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1400" baseline="-25000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1400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74 mm, profile radius: </a:t>
            </a:r>
            <a:r>
              <a:rPr lang="en-US" sz="1400" dirty="0" err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1400" baseline="-25000" dirty="0" err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</a:t>
            </a:r>
            <a:r>
              <a:rPr lang="en-US" sz="1400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 mm, corner radius: </a:t>
            </a:r>
            <a:r>
              <a:rPr lang="en-US" sz="1400" dirty="0" err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1400" baseline="-25000" dirty="0" err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dc</a:t>
            </a:r>
            <a:r>
              <a:rPr lang="en-US" sz="1400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12 mm</a:t>
            </a:r>
            <a:endParaRPr dirty="0"/>
          </a:p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400"/>
            </a:pPr>
            <a:r>
              <a:rPr lang="en-US" sz="1400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cold rolled steel  </a:t>
            </a:r>
            <a:r>
              <a:rPr lang="en-US" sz="1400" dirty="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σ = YS+K(ε)</a:t>
            </a:r>
            <a:r>
              <a:rPr lang="en-US" sz="1400" baseline="30000" dirty="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1400" dirty="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MPa</a:t>
            </a:r>
            <a:endParaRPr lang="en-US" dirty="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400"/>
            </a:pPr>
            <a:r>
              <a:rPr lang="en-US" dirty="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Yield stress = 276 MPa</a:t>
            </a:r>
            <a:r>
              <a:rPr lang="en-US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400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Strain Hardening exponent (n) : 0.8, Strength coefficient (K) ; 421 MPa</a:t>
            </a:r>
          </a:p>
          <a:p>
            <a:pPr marL="0" marR="0" lvl="0" indent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=  </a:t>
            </a:r>
            <a:r>
              <a:rPr lang="en-US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210000</a:t>
            </a:r>
            <a:r>
              <a:rPr lang="en-US" sz="1400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MPa, </a:t>
            </a:r>
            <a:r>
              <a:rPr lang="en-US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ν </a:t>
            </a:r>
            <a:r>
              <a:rPr lang="en-US" sz="140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US" sz="1400" smtClean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0.33</a:t>
            </a:r>
          </a:p>
          <a:p>
            <a:pPr marL="0" marR="0" lvl="0" indent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mtClean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Coefficient of friction = 0.05</a:t>
            </a:r>
            <a:endParaRPr sz="1400" dirty="0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16644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98" t="3960" r="34441" b="11353"/>
          <a:stretch/>
        </p:blipFill>
        <p:spPr>
          <a:xfrm>
            <a:off x="193430" y="749856"/>
            <a:ext cx="2461847" cy="251779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39" t="6117" r="17919" b="5906"/>
          <a:stretch/>
        </p:blipFill>
        <p:spPr>
          <a:xfrm>
            <a:off x="3249151" y="779006"/>
            <a:ext cx="3407426" cy="23862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47" t="3656" r="31993" b="12516"/>
          <a:stretch/>
        </p:blipFill>
        <p:spPr>
          <a:xfrm>
            <a:off x="7948248" y="577782"/>
            <a:ext cx="2645463" cy="258744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48" t="14379" r="26398" b="4676"/>
          <a:stretch/>
        </p:blipFill>
        <p:spPr>
          <a:xfrm>
            <a:off x="193430" y="4142487"/>
            <a:ext cx="2628901" cy="21041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3430" y="95317"/>
            <a:ext cx="5108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PARTS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0485" y="3560418"/>
            <a:ext cx="37279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BLANK  HOLDER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4400943" y="3560418"/>
            <a:ext cx="3151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DIE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8634046" y="3560418"/>
            <a:ext cx="26816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SHEET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193430" y="6440744"/>
            <a:ext cx="3464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PUNCH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153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69277" y="386861"/>
            <a:ext cx="66469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ASSEMBLY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277" y="1140286"/>
            <a:ext cx="5112495" cy="23766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576" y="1140286"/>
            <a:ext cx="5180070" cy="2412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74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368" y="235174"/>
            <a:ext cx="1004178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200000"/>
              </a:lnSpc>
              <a:buClr>
                <a:srgbClr val="003366"/>
              </a:buClr>
              <a:buSzPts val="1400"/>
            </a:pPr>
            <a:r>
              <a:rPr lang="en-US" sz="2400" dirty="0" smtClean="0">
                <a:solidFill>
                  <a:srgbClr val="003366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1) EFFECT OF PUNCH GEOMETRY ON THE ANALYSIS OF DRAWING</a:t>
            </a:r>
            <a:endParaRPr lang="en-US" sz="2400" dirty="0">
              <a:solidFill>
                <a:srgbClr val="003366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125"/>
          <a:stretch/>
        </p:blipFill>
        <p:spPr>
          <a:xfrm>
            <a:off x="220133" y="1090479"/>
            <a:ext cx="5009872" cy="326138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4116" y="1090479"/>
            <a:ext cx="5533746" cy="32613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4817533"/>
            <a:ext cx="472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STRESS CONCENTRATION USING CIRCULAR PUNCH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5698067" y="4775199"/>
            <a:ext cx="5054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buClr>
                <a:srgbClr val="003366"/>
              </a:buClr>
              <a:buSzPts val="1400"/>
            </a:pPr>
            <a:r>
              <a:rPr lang="en-IN" dirty="0" smtClean="0"/>
              <a:t>STRESS CONCENTRATION USING SQUARE PUNCH</a:t>
            </a:r>
          </a:p>
          <a:p>
            <a:pPr lvl="0">
              <a:lnSpc>
                <a:spcPct val="200000"/>
              </a:lnSpc>
              <a:buClr>
                <a:srgbClr val="003366"/>
              </a:buClr>
              <a:buSzPts val="1400"/>
            </a:pPr>
            <a:endParaRPr lang="en-US" dirty="0">
              <a:solidFill>
                <a:srgbClr val="003366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1000" y="5604933"/>
            <a:ext cx="4688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MAX VALUE :336.1 MPA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5765800" y="5604933"/>
            <a:ext cx="4707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MAX VALUE :416.5MPA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0478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0101" y="448887"/>
            <a:ext cx="47382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SPRING BACK EFFECT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640" y="931026"/>
            <a:ext cx="5189426" cy="316846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506" y="931026"/>
            <a:ext cx="5699005" cy="30840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9506" y="4322617"/>
            <a:ext cx="5220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DEFORMATION AT THE END OF PUNCHING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96397" y="4322617"/>
            <a:ext cx="513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DEFORMATION AFTER RETRACTION OF PUNCH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6050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996727"/>
              </p:ext>
            </p:extLst>
          </p:nvPr>
        </p:nvGraphicFramePr>
        <p:xfrm>
          <a:off x="764772" y="640082"/>
          <a:ext cx="10316092" cy="268500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579023">
                  <a:extLst>
                    <a:ext uri="{9D8B030D-6E8A-4147-A177-3AD203B41FA5}">
                      <a16:colId xmlns:a16="http://schemas.microsoft.com/office/drawing/2014/main" val="3327396075"/>
                    </a:ext>
                  </a:extLst>
                </a:gridCol>
                <a:gridCol w="2579023">
                  <a:extLst>
                    <a:ext uri="{9D8B030D-6E8A-4147-A177-3AD203B41FA5}">
                      <a16:colId xmlns:a16="http://schemas.microsoft.com/office/drawing/2014/main" val="1461261303"/>
                    </a:ext>
                  </a:extLst>
                </a:gridCol>
                <a:gridCol w="2579023">
                  <a:extLst>
                    <a:ext uri="{9D8B030D-6E8A-4147-A177-3AD203B41FA5}">
                      <a16:colId xmlns:a16="http://schemas.microsoft.com/office/drawing/2014/main" val="259259188"/>
                    </a:ext>
                  </a:extLst>
                </a:gridCol>
                <a:gridCol w="2579023">
                  <a:extLst>
                    <a:ext uri="{9D8B030D-6E8A-4147-A177-3AD203B41FA5}">
                      <a16:colId xmlns:a16="http://schemas.microsoft.com/office/drawing/2014/main" val="2193433031"/>
                    </a:ext>
                  </a:extLst>
                </a:gridCol>
              </a:tblGrid>
              <a:tr h="1023943">
                <a:tc>
                  <a:txBody>
                    <a:bodyPr/>
                    <a:lstStyle/>
                    <a:p>
                      <a:r>
                        <a:rPr lang="en-IN" dirty="0" smtClean="0"/>
                        <a:t>LOAD</a:t>
                      </a:r>
                      <a:r>
                        <a:rPr lang="en-IN" baseline="0" dirty="0" smtClean="0"/>
                        <a:t>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MAXIMUM DEFORMATION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DEFORMATION AFTER PUNCH REMOVAL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SPRING BACK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075355"/>
                  </a:ext>
                </a:extLst>
              </a:tr>
              <a:tr h="415266"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5000 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15.06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40289673"/>
                  </a:ext>
                </a:extLst>
              </a:tr>
              <a:tr h="415266"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10000</a:t>
                      </a:r>
                      <a:r>
                        <a:rPr lang="en-IN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15.02</a:t>
                      </a:r>
                      <a:endParaRPr lang="en-IN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06197274"/>
                  </a:ext>
                </a:extLst>
              </a:tr>
              <a:tr h="415266"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15000</a:t>
                      </a:r>
                      <a:r>
                        <a:rPr lang="en-IN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14.9</a:t>
                      </a:r>
                      <a:endParaRPr lang="en-IN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97827896"/>
                  </a:ext>
                </a:extLst>
              </a:tr>
              <a:tr h="415266"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20000</a:t>
                      </a:r>
                      <a:r>
                        <a:rPr lang="en-IN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15.02</a:t>
                      </a:r>
                      <a:endParaRPr lang="en-IN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14.69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14158181"/>
                  </a:ext>
                </a:extLst>
              </a:tr>
            </a:tbl>
          </a:graphicData>
        </a:graphic>
      </p:graphicFrame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502056"/>
              </p:ext>
            </p:extLst>
          </p:nvPr>
        </p:nvGraphicFramePr>
        <p:xfrm>
          <a:off x="3410211" y="3828271"/>
          <a:ext cx="4062931" cy="26639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13806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1907864"/>
              </p:ext>
            </p:extLst>
          </p:nvPr>
        </p:nvGraphicFramePr>
        <p:xfrm>
          <a:off x="382387" y="4034579"/>
          <a:ext cx="4979324" cy="26408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98247" y="224442"/>
            <a:ext cx="5586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STUDY ON WRINKLE DEFECT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32" y="1190741"/>
            <a:ext cx="4064945" cy="253545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9089" y="926869"/>
            <a:ext cx="3164715" cy="27319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6335" y="739833"/>
            <a:ext cx="3483032" cy="374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1)BLANK HOLDING FORCE : 5KN</a:t>
            </a: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9832" y="4388978"/>
            <a:ext cx="5411608" cy="23711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09832" y="3849913"/>
            <a:ext cx="3829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VARIATION ALONG PATH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64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9095608"/>
              </p:ext>
            </p:extLst>
          </p:nvPr>
        </p:nvGraphicFramePr>
        <p:xfrm>
          <a:off x="565265" y="3678382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147156" y="739833"/>
            <a:ext cx="3408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2)BLANK HOLDING FORCE 10 KN 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722" y="1211802"/>
            <a:ext cx="4064945" cy="253545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1767" y="739833"/>
            <a:ext cx="3164715" cy="273193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9664" y="4257474"/>
            <a:ext cx="5430417" cy="23758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46863" y="3678382"/>
            <a:ext cx="3041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VARIATION ALONG PATH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14" y="1211802"/>
            <a:ext cx="4064945" cy="2535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427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8457" y="177281"/>
            <a:ext cx="5243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  <a:r>
              <a:rPr lang="en-IN" dirty="0" smtClean="0"/>
              <a:t>)BLANK HOLDING FORCE 15 KN 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57" y="1015328"/>
            <a:ext cx="4064945" cy="253545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3775" y="818854"/>
            <a:ext cx="3164715" cy="2731932"/>
          </a:xfrm>
          <a:prstGeom prst="rect">
            <a:avLst/>
          </a:prstGeom>
        </p:spPr>
      </p:pic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380858"/>
              </p:ext>
            </p:extLst>
          </p:nvPr>
        </p:nvGraphicFramePr>
        <p:xfrm>
          <a:off x="419879" y="3722914"/>
          <a:ext cx="4730620" cy="28365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0671" y="4265632"/>
            <a:ext cx="5435219" cy="25019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84979" y="3853793"/>
            <a:ext cx="6232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5682343" y="3853793"/>
            <a:ext cx="4991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VARIATION ALONG PATH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0455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57" y="1015328"/>
            <a:ext cx="4064945" cy="253545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3775" y="818854"/>
            <a:ext cx="3164715" cy="27319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0424" y="261257"/>
            <a:ext cx="3508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</a:t>
            </a:r>
            <a:r>
              <a:rPr lang="en-IN" dirty="0" smtClean="0"/>
              <a:t>)BLANK HOLDING FORCE 20 KN </a:t>
            </a:r>
            <a:endParaRPr lang="en-IN" dirty="0"/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3320705"/>
              </p:ext>
            </p:extLst>
          </p:nvPr>
        </p:nvGraphicFramePr>
        <p:xfrm>
          <a:off x="5673143" y="4420716"/>
          <a:ext cx="5672881" cy="21293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9069963"/>
              </p:ext>
            </p:extLst>
          </p:nvPr>
        </p:nvGraphicFramePr>
        <p:xfrm>
          <a:off x="311117" y="4054539"/>
          <a:ext cx="5019675" cy="2495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73143" y="3942571"/>
            <a:ext cx="50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VARIATION ALONG PATH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02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5820" y="186611"/>
            <a:ext cx="7259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PUNCH LOAD WITH DISPLACEMENT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522514" y="884546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1)BLANK HOLDING FORCE 5KN</a:t>
            </a:r>
            <a:endParaRPr lang="en-IN"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6435199"/>
              </p:ext>
            </p:extLst>
          </p:nvPr>
        </p:nvGraphicFramePr>
        <p:xfrm>
          <a:off x="522514" y="1272437"/>
          <a:ext cx="4423100" cy="2354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3F4011E-5043-9E58-EC25-FD3C43D7EA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070"/>
          <a:stretch/>
        </p:blipFill>
        <p:spPr>
          <a:xfrm>
            <a:off x="6329834" y="1459423"/>
            <a:ext cx="4187239" cy="21678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26BB54-9DE7-F6F2-8B39-D7625801F3E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2509"/>
          <a:stretch/>
        </p:blipFill>
        <p:spPr>
          <a:xfrm>
            <a:off x="522514" y="4389562"/>
            <a:ext cx="4552950" cy="23833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49560E-CCA4-26E1-24BF-1600D5CBBC3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4364"/>
          <a:stretch/>
        </p:blipFill>
        <p:spPr>
          <a:xfrm>
            <a:off x="6340249" y="4534678"/>
            <a:ext cx="4402964" cy="23233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29834" y="877078"/>
            <a:ext cx="5006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  <a:r>
              <a:rPr lang="en-IN" dirty="0" smtClean="0"/>
              <a:t>)BLANK HOLDING FORCE 10KN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6597827" y="3804910"/>
            <a:ext cx="3544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</a:t>
            </a:r>
            <a:r>
              <a:rPr lang="en-IN" dirty="0" smtClean="0"/>
              <a:t>)BLANK HOLDING FORCE 20KN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522514" y="3870514"/>
            <a:ext cx="397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  <a:r>
              <a:rPr lang="en-IN" dirty="0" smtClean="0"/>
              <a:t>)BLANK HOLDING FORCE 15KN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5184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1676</TotalTime>
  <Words>330</Words>
  <Application>Microsoft Office PowerPoint</Application>
  <PresentationFormat>Widescreen</PresentationFormat>
  <Paragraphs>75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</dc:creator>
  <cp:lastModifiedBy>Student</cp:lastModifiedBy>
  <cp:revision>48</cp:revision>
  <dcterms:created xsi:type="dcterms:W3CDTF">2026-04-12T10:24:48Z</dcterms:created>
  <dcterms:modified xsi:type="dcterms:W3CDTF">2026-04-13T14:21:58Z</dcterms:modified>
</cp:coreProperties>
</file>